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A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8C1D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01200" y="457200"/>
            <a:ext cx="2743200" cy="2743200"/>
          </a:xfrm>
          <a:prstGeom prst="ellipse">
            <a:avLst/>
          </a:prstGeom>
          <a:solidFill>
            <a:srgbClr val="2A3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914400" y="4572000"/>
            <a:ext cx="2286000" cy="2286000"/>
          </a:xfrm>
          <a:prstGeom prst="ellipse">
            <a:avLst/>
          </a:prstGeom>
          <a:solidFill>
            <a:srgbClr val="2A3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394960" y="1463040"/>
            <a:ext cx="1371600" cy="1371600"/>
          </a:xfrm>
          <a:prstGeom prst="roundRect">
            <a:avLst/>
          </a:prstGeom>
          <a:solidFill>
            <a:srgbClr val="8C1D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94960" y="1600200"/>
            <a:ext cx="1371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3600" b="1">
                <a:solidFill>
                  <a:srgbClr val="FFFFFF"/>
                </a:solidFill>
                <a:latin typeface="Georgia"/>
              </a:defRPr>
            </a:pPr>
            <a:r>
              <a:t>MIS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3200400"/>
            <a:ext cx="9418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6000" b="1">
                <a:solidFill>
                  <a:srgbClr val="FFFFFF"/>
                </a:solidFill>
                <a:latin typeface="Georgia"/>
              </a:defRPr>
            </a:pPr>
            <a:r>
              <a:t>MakeItSo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4297680"/>
            <a:ext cx="8503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A0AEC0"/>
                </a:solidFill>
                <a:latin typeface="Calibri"/>
              </a:defRPr>
            </a:pPr>
            <a:r>
              <a:t>AI-powered course planning that connects what you study to where you're going.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5760720"/>
            <a:ext cx="8503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6B7B90"/>
                </a:solidFill>
                <a:latin typeface="Calibri"/>
              </a:defRPr>
            </a:pPr>
            <a:r>
              <a:t>hack@DAVIDSON 2025  |  Built for Davidson College Students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8C1D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8C1D1D"/>
                </a:solidFill>
                <a:latin typeface="Calibri"/>
              </a:defRPr>
            </a:pPr>
            <a: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058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3800" b="1">
                <a:solidFill>
                  <a:srgbClr val="1E2A38"/>
                </a:solidFill>
                <a:latin typeface="Georgia"/>
              </a:defRPr>
            </a:pPr>
            <a:r>
              <a:t>Students pick courses blind to career outcomes.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194560"/>
            <a:ext cx="2606040" cy="3657600"/>
          </a:xfrm>
          <a:prstGeom prst="roundRect">
            <a:avLst/>
          </a:prstGeom>
          <a:solidFill>
            <a:srgbClr val="F8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691640" y="2468880"/>
            <a:ext cx="594360" cy="594360"/>
          </a:xfrm>
          <a:prstGeom prst="ellipse">
            <a:avLst/>
          </a:prstGeom>
          <a:solidFill>
            <a:srgbClr val="8C1D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91640" y="2532888"/>
            <a:ext cx="594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3337560"/>
            <a:ext cx="2148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1E2A38"/>
                </a:solidFill>
                <a:latin typeface="Georgia"/>
              </a:defRPr>
            </a:pPr>
            <a:r>
              <a:t>No career connection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3931920"/>
            <a:ext cx="2148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6B7280"/>
                </a:solidFill>
                <a:latin typeface="Calibri"/>
              </a:defRPr>
            </a:pPr>
            <a:r>
              <a:t>Students choose courses with zero visibility into how they map to actual careers.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66160" y="2194560"/>
            <a:ext cx="2606040" cy="3657600"/>
          </a:xfrm>
          <a:prstGeom prst="roundRect">
            <a:avLst/>
          </a:prstGeom>
          <a:solidFill>
            <a:srgbClr val="F8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526280" y="2468880"/>
            <a:ext cx="594360" cy="594360"/>
          </a:xfrm>
          <a:prstGeom prst="ellipse">
            <a:avLst/>
          </a:prstGeom>
          <a:solidFill>
            <a:srgbClr val="8C1D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26280" y="2532888"/>
            <a:ext cx="594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94760" y="3337560"/>
            <a:ext cx="2148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1E2A38"/>
                </a:solidFill>
                <a:latin typeface="Georgia"/>
              </a:defRPr>
            </a:pPr>
            <a:r>
              <a:t>Information overload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94760" y="3931920"/>
            <a:ext cx="2148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6B7280"/>
                </a:solidFill>
                <a:latin typeface="Calibri"/>
              </a:defRPr>
            </a:pPr>
            <a:r>
              <a:t>463 courses, 24 departments. Generic advisor meetings aren't enough.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0" y="2194560"/>
            <a:ext cx="2606040" cy="3657600"/>
          </a:xfrm>
          <a:prstGeom prst="roundRect">
            <a:avLst/>
          </a:prstGeom>
          <a:solidFill>
            <a:srgbClr val="F8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360920" y="2468880"/>
            <a:ext cx="594360" cy="594360"/>
          </a:xfrm>
          <a:prstGeom prst="ellipse">
            <a:avLst/>
          </a:prstGeom>
          <a:solidFill>
            <a:srgbClr val="8C1D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60920" y="2532888"/>
            <a:ext cx="594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29400" y="3337560"/>
            <a:ext cx="2148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1E2A38"/>
                </a:solidFill>
                <a:latin typeface="Georgia"/>
              </a:defRPr>
            </a:pPr>
            <a:r>
              <a:t>Networking anxiety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29400" y="3931920"/>
            <a:ext cx="2148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6B7280"/>
                </a:solidFill>
                <a:latin typeface="Calibri"/>
              </a:defRPr>
            </a:pPr>
            <a:r>
              <a:t>Alumni can help, but students don't know what to say or who to reach.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235440" y="2194560"/>
            <a:ext cx="2606040" cy="3657600"/>
          </a:xfrm>
          <a:prstGeom prst="roundRect">
            <a:avLst/>
          </a:prstGeom>
          <a:solidFill>
            <a:srgbClr val="F8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195560" y="2468880"/>
            <a:ext cx="594360" cy="594360"/>
          </a:xfrm>
          <a:prstGeom prst="ellipse">
            <a:avLst/>
          </a:prstGeom>
          <a:solidFill>
            <a:srgbClr val="8C1D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195560" y="2532888"/>
            <a:ext cx="594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64040" y="3337560"/>
            <a:ext cx="2148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1E2A38"/>
                </a:solidFill>
                <a:latin typeface="Georgia"/>
              </a:defRPr>
            </a:pPr>
            <a:r>
              <a:t>Professor roulette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64040" y="3931920"/>
            <a:ext cx="2148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6B7280"/>
                </a:solidFill>
                <a:latin typeface="Calibri"/>
              </a:defRPr>
            </a:pPr>
            <a:r>
              <a:t>RateMyProfessors is noisy. No synthesized, actionable professor intel.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8C1D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8C1D1D"/>
                </a:solidFill>
                <a:latin typeface="Calibri"/>
              </a:defRPr>
            </a:pPr>
            <a:r>
              <a:t>THE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058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3800" b="1">
                <a:solidFill>
                  <a:srgbClr val="1E2A38"/>
                </a:solidFill>
                <a:latin typeface="Georgia"/>
              </a:defRPr>
            </a:pPr>
            <a:r>
              <a:t>Don't ask "what courses?" Ask "what career?"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6B7280"/>
                </a:solidFill>
                <a:latin typeface="Calibri"/>
              </a:defRPr>
            </a:pPr>
            <a:r>
              <a:t>MakeItSo flips planning on its head. Start with your dream career, and AI builds your entire roadmap backward—courses, people, activities, timeline.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71600" y="2743200"/>
            <a:ext cx="4389120" cy="3657600"/>
          </a:xfrm>
          <a:prstGeom prst="roundRect">
            <a:avLst/>
          </a:prstGeom>
          <a:solidFill>
            <a:srgbClr val="F8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2743200"/>
            <a:ext cx="4389120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737360" y="301752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1E2A38"/>
                </a:solidFill>
                <a:latin typeface="Georgia"/>
              </a:defRPr>
            </a:pPr>
            <a:r>
              <a:t>Plan Forward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37360" y="352044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10B981"/>
                </a:solidFill>
                <a:latin typeface="Calibri"/>
              </a:defRPr>
            </a:pPr>
            <a:r>
              <a:t>Start with your interests</a:t>
            </a:r>
          </a:p>
        </p:txBody>
      </p:sp>
      <p:sp>
        <p:nvSpPr>
          <p:cNvPr id="10" name="Oval 9"/>
          <p:cNvSpPr/>
          <p:nvPr/>
        </p:nvSpPr>
        <p:spPr>
          <a:xfrm>
            <a:off x="1737360" y="4142232"/>
            <a:ext cx="274320" cy="27432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737360" y="4160520"/>
            <a:ext cx="274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94560" y="4142232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111111"/>
                </a:solidFill>
                <a:latin typeface="Calibri"/>
              </a:defRPr>
            </a:pPr>
            <a:r>
              <a:t>Tell us what fascinates you</a:t>
            </a:r>
          </a:p>
        </p:txBody>
      </p:sp>
      <p:sp>
        <p:nvSpPr>
          <p:cNvPr id="13" name="Oval 12"/>
          <p:cNvSpPr/>
          <p:nvPr/>
        </p:nvSpPr>
        <p:spPr>
          <a:xfrm>
            <a:off x="1737360" y="4645152"/>
            <a:ext cx="274320" cy="27432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737360" y="4663440"/>
            <a:ext cx="274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4560" y="4645152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111111"/>
                </a:solidFill>
                <a:latin typeface="Calibri"/>
              </a:defRPr>
            </a:pPr>
            <a:r>
              <a:t>Get AI course recommendations</a:t>
            </a:r>
          </a:p>
        </p:txBody>
      </p:sp>
      <p:sp>
        <p:nvSpPr>
          <p:cNvPr id="16" name="Oval 15"/>
          <p:cNvSpPr/>
          <p:nvPr/>
        </p:nvSpPr>
        <p:spPr>
          <a:xfrm>
            <a:off x="1737360" y="5148072"/>
            <a:ext cx="274320" cy="27432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737360" y="5166360"/>
            <a:ext cx="274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94560" y="5148072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111111"/>
                </a:solidFill>
                <a:latin typeface="Calibri"/>
              </a:defRPr>
            </a:pPr>
            <a:r>
              <a:t>Explore 24 career paths</a:t>
            </a:r>
          </a:p>
        </p:txBody>
      </p:sp>
      <p:sp>
        <p:nvSpPr>
          <p:cNvPr id="19" name="Oval 18"/>
          <p:cNvSpPr/>
          <p:nvPr/>
        </p:nvSpPr>
        <p:spPr>
          <a:xfrm>
            <a:off x="1737360" y="5650992"/>
            <a:ext cx="274320" cy="27432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737360" y="5669280"/>
            <a:ext cx="274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94560" y="5650992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111111"/>
                </a:solidFill>
                <a:latin typeface="Calibri"/>
              </a:defRPr>
            </a:pPr>
            <a:r>
              <a:t>Discover new possibilities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0" y="2743200"/>
            <a:ext cx="4389120" cy="3657600"/>
          </a:xfrm>
          <a:prstGeom prst="roundRect">
            <a:avLst/>
          </a:prstGeom>
          <a:solidFill>
            <a:srgbClr val="F8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0" y="2743200"/>
            <a:ext cx="4389120" cy="54864"/>
          </a:xfrm>
          <a:prstGeom prst="rect">
            <a:avLst/>
          </a:prstGeom>
          <a:solidFill>
            <a:srgbClr val="8C1D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66560" y="301752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1E2A38"/>
                </a:solidFill>
                <a:latin typeface="Georgia"/>
              </a:defRPr>
            </a:pPr>
            <a:r>
              <a:t>Plan Backward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66560" y="352044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8C1D1D"/>
                </a:solidFill>
                <a:latin typeface="Calibri"/>
              </a:defRPr>
            </a:pPr>
            <a:r>
              <a:t>Start with your dream career</a:t>
            </a:r>
          </a:p>
        </p:txBody>
      </p:sp>
      <p:sp>
        <p:nvSpPr>
          <p:cNvPr id="26" name="Oval 25"/>
          <p:cNvSpPr/>
          <p:nvPr/>
        </p:nvSpPr>
        <p:spPr>
          <a:xfrm>
            <a:off x="6766560" y="4142232"/>
            <a:ext cx="274320" cy="274320"/>
          </a:xfrm>
          <a:prstGeom prst="ellipse">
            <a:avLst/>
          </a:prstGeom>
          <a:solidFill>
            <a:srgbClr val="8C1D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66560" y="4160520"/>
            <a:ext cx="274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23760" y="4142232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111111"/>
                </a:solidFill>
                <a:latin typeface="Calibri"/>
              </a:defRPr>
            </a:pPr>
            <a:r>
              <a:t>Pick your target role</a:t>
            </a:r>
          </a:p>
        </p:txBody>
      </p:sp>
      <p:sp>
        <p:nvSpPr>
          <p:cNvPr id="29" name="Oval 28"/>
          <p:cNvSpPr/>
          <p:nvPr/>
        </p:nvSpPr>
        <p:spPr>
          <a:xfrm>
            <a:off x="6766560" y="4645152"/>
            <a:ext cx="274320" cy="274320"/>
          </a:xfrm>
          <a:prstGeom prst="ellipse">
            <a:avLst/>
          </a:prstGeom>
          <a:solidFill>
            <a:srgbClr val="8C1D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766560" y="4663440"/>
            <a:ext cx="274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23760" y="4645152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111111"/>
                </a:solidFill>
                <a:latin typeface="Calibri"/>
              </a:defRPr>
            </a:pPr>
            <a:r>
              <a:t>AI generates full action plan</a:t>
            </a:r>
          </a:p>
        </p:txBody>
      </p:sp>
      <p:sp>
        <p:nvSpPr>
          <p:cNvPr id="32" name="Oval 31"/>
          <p:cNvSpPr/>
          <p:nvPr/>
        </p:nvSpPr>
        <p:spPr>
          <a:xfrm>
            <a:off x="6766560" y="5148072"/>
            <a:ext cx="274320" cy="274320"/>
          </a:xfrm>
          <a:prstGeom prst="ellipse">
            <a:avLst/>
          </a:prstGeom>
          <a:solidFill>
            <a:srgbClr val="8C1D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766560" y="5166360"/>
            <a:ext cx="274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23760" y="5148072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111111"/>
                </a:solidFill>
                <a:latin typeface="Calibri"/>
              </a:defRPr>
            </a:pPr>
            <a:r>
              <a:t>Courses + People + Activities</a:t>
            </a:r>
          </a:p>
        </p:txBody>
      </p:sp>
      <p:sp>
        <p:nvSpPr>
          <p:cNvPr id="35" name="Oval 34"/>
          <p:cNvSpPr/>
          <p:nvPr/>
        </p:nvSpPr>
        <p:spPr>
          <a:xfrm>
            <a:off x="6766560" y="5650992"/>
            <a:ext cx="274320" cy="274320"/>
          </a:xfrm>
          <a:prstGeom prst="ellipse">
            <a:avLst/>
          </a:prstGeom>
          <a:solidFill>
            <a:srgbClr val="8C1D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766560" y="5669280"/>
            <a:ext cx="274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223760" y="5650992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111111"/>
                </a:solidFill>
                <a:latin typeface="Calibri"/>
              </a:defRPr>
            </a:pPr>
            <a:r>
              <a:t>Follow your roadmap to success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8C1D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8C1D1D"/>
                </a:solidFill>
                <a:latin typeface="Calibri"/>
              </a:defRPr>
            </a:pPr>
            <a:r>
              <a:t>KEY FEATURES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058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3800" b="1">
                <a:solidFill>
                  <a:srgbClr val="1E2A38"/>
                </a:solidFill>
                <a:latin typeface="Georgia"/>
              </a:defRPr>
            </a:pPr>
            <a:r>
              <a:t>Six AI-powered tools, one platform.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011680"/>
            <a:ext cx="3474720" cy="4389120"/>
          </a:xfrm>
          <a:prstGeom prst="roundRect">
            <a:avLst/>
          </a:prstGeom>
          <a:solidFill>
            <a:srgbClr val="F8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2011680"/>
            <a:ext cx="3474720" cy="5486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103120" y="2377440"/>
            <a:ext cx="640080" cy="64008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103120" y="2441448"/>
            <a:ext cx="640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FFFFFF"/>
                </a:solidFill>
                <a:latin typeface="Georgia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29184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1E2A38"/>
                </a:solidFill>
                <a:latin typeface="Georgia"/>
              </a:defRPr>
            </a:pPr>
            <a:r>
              <a:t>Smart Course Explorer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931920"/>
            <a:ext cx="29260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6B7280"/>
                </a:solidFill>
                <a:latin typeface="Calibri"/>
              </a:defRPr>
            </a:pPr>
            <a:r>
              <a:t>463 real Davidson courses with live enrollment, RateMyProfessors ratings, and AI-generated insights for key topics, skills, and career connections.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80559" y="2011680"/>
            <a:ext cx="3474720" cy="4389120"/>
          </a:xfrm>
          <a:prstGeom prst="roundRect">
            <a:avLst/>
          </a:prstGeom>
          <a:solidFill>
            <a:srgbClr val="F8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80559" y="2011680"/>
            <a:ext cx="3474720" cy="54864"/>
          </a:xfrm>
          <a:prstGeom prst="rect">
            <a:avLst/>
          </a:prstGeom>
          <a:solidFill>
            <a:srgbClr val="8C1D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852159" y="2377440"/>
            <a:ext cx="640080" cy="640080"/>
          </a:xfrm>
          <a:prstGeom prst="ellipse">
            <a:avLst/>
          </a:prstGeom>
          <a:solidFill>
            <a:srgbClr val="8C1D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52159" y="2441448"/>
            <a:ext cx="640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FFFFFF"/>
                </a:solidFill>
                <a:latin typeface="Georgia"/>
              </a:defRPr>
            </a:pPr>
            <a: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79" y="329184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1E2A38"/>
                </a:solidFill>
                <a:latin typeface="Georgia"/>
              </a:defRPr>
            </a:pPr>
            <a:r>
              <a:t>AI Career Planner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79" y="3931920"/>
            <a:ext cx="29260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6B7280"/>
                </a:solidFill>
                <a:latin typeface="Calibri"/>
              </a:defRPr>
            </a:pPr>
            <a:r>
              <a:t>Tell us your dream career. Gemini generates a complete action plan: recommended courses, people to meet, activities to do, and Davidson-specific insights.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598" y="2011680"/>
            <a:ext cx="3474720" cy="4389120"/>
          </a:xfrm>
          <a:prstGeom prst="roundRect">
            <a:avLst/>
          </a:prstGeom>
          <a:solidFill>
            <a:srgbClr val="F8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29598" y="2011680"/>
            <a:ext cx="3474720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601198" y="2377440"/>
            <a:ext cx="640080" cy="6400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198" y="2441448"/>
            <a:ext cx="640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FFFFFF"/>
                </a:solidFill>
                <a:latin typeface="Georgia"/>
              </a:defRPr>
            </a:pPr>
            <a: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18" y="329184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1E2A38"/>
                </a:solidFill>
                <a:latin typeface="Georgia"/>
              </a:defRPr>
            </a:pPr>
            <a:r>
              <a:t>4-Year Roadmap Builder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03918" y="3931920"/>
            <a:ext cx="29260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6B7280"/>
                </a:solidFill>
                <a:latin typeface="Calibri"/>
              </a:defRPr>
            </a:pPr>
            <a:r>
              <a:t>AI creates optimized semester-by-semester schedules respecting prerequisites, distribution requirements, and workload balance.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8C1D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8C1D1D"/>
                </a:solidFill>
                <a:latin typeface="Calibri"/>
              </a:defRPr>
            </a:pPr>
            <a:r>
              <a:t>KEY FEATURES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058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3800" b="1">
                <a:solidFill>
                  <a:srgbClr val="1E2A38"/>
                </a:solidFill>
                <a:latin typeface="Georgia"/>
              </a:defRPr>
            </a:pPr>
            <a:r>
              <a:t>Real data. Real people. Real outcomes.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011680"/>
            <a:ext cx="3474720" cy="4389120"/>
          </a:xfrm>
          <a:prstGeom prst="roundRect">
            <a:avLst/>
          </a:prstGeom>
          <a:solidFill>
            <a:srgbClr val="F8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2011680"/>
            <a:ext cx="3474720" cy="54864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103120" y="2377440"/>
            <a:ext cx="640080" cy="64008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103120" y="2441448"/>
            <a:ext cx="640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FFFFFF"/>
                </a:solidFill>
                <a:latin typeface="Georgia"/>
              </a:defRPr>
            </a:pPr>
            <a: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29184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1E2A38"/>
                </a:solidFill>
                <a:latin typeface="Georgia"/>
              </a:defRPr>
            </a:pPr>
            <a:r>
              <a:t>Professor Insights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931920"/>
            <a:ext cx="29260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6B7280"/>
                </a:solidFill>
                <a:latin typeface="Calibri"/>
              </a:defRPr>
            </a:pPr>
            <a:r>
              <a:t>AI synthesizes RateMyProfessors reviews into balanced summaries with strengths, considerations, and a specific tip for success.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80559" y="2011680"/>
            <a:ext cx="3474720" cy="4389120"/>
          </a:xfrm>
          <a:prstGeom prst="roundRect">
            <a:avLst/>
          </a:prstGeom>
          <a:solidFill>
            <a:srgbClr val="F8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80559" y="2011680"/>
            <a:ext cx="3474720" cy="5486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852159" y="2377440"/>
            <a:ext cx="640080" cy="64008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52159" y="2441448"/>
            <a:ext cx="640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FFFFFF"/>
                </a:solidFill>
                <a:latin typeface="Georgia"/>
              </a:defRPr>
            </a:pPr>
            <a: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79" y="329184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1E2A38"/>
                </a:solidFill>
                <a:latin typeface="Georgia"/>
              </a:defRPr>
            </a:pPr>
            <a:r>
              <a:t>Alumni Network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79" y="3931920"/>
            <a:ext cx="29260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6B7280"/>
                </a:solidFill>
                <a:latin typeface="Calibri"/>
              </a:defRPr>
            </a:pPr>
            <a:r>
              <a:t>40+ curated Davidson alumni across McKinsey, Goldman Sachs, Google, Microsoft, and more. Browse by career field and graduation year.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598" y="2011680"/>
            <a:ext cx="3474720" cy="4389120"/>
          </a:xfrm>
          <a:prstGeom prst="roundRect">
            <a:avLst/>
          </a:prstGeom>
          <a:solidFill>
            <a:srgbClr val="F8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29598" y="2011680"/>
            <a:ext cx="3474720" cy="54864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601198" y="2377440"/>
            <a:ext cx="640080" cy="64008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198" y="2441448"/>
            <a:ext cx="640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FFFFFF"/>
                </a:solidFill>
                <a:latin typeface="Georgia"/>
              </a:defRPr>
            </a:pPr>
            <a:r>
              <a:t>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18" y="329184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1E2A38"/>
                </a:solidFill>
                <a:latin typeface="Georgia"/>
              </a:defRPr>
            </a:pPr>
            <a:r>
              <a:t>Cold Email Generator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03918" y="3931920"/>
            <a:ext cx="29260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6B7280"/>
                </a:solidFill>
                <a:latin typeface="Calibri"/>
              </a:defRPr>
            </a:pPr>
            <a:r>
              <a:t>Solves networking anxiety. AI writes personalized, professional outreach emails tailored to each alumnus's role and your interests.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A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8C1D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8C1D1D"/>
                </a:solidFill>
                <a:latin typeface="Calibri"/>
              </a:defRPr>
            </a:pPr>
            <a:r>
              <a:t>UNDER THE HOOD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3600" b="1">
                <a:solidFill>
                  <a:srgbClr val="FFFFFF"/>
                </a:solidFill>
                <a:latin typeface="Georgia"/>
              </a:defRPr>
            </a:pPr>
            <a:r>
              <a:t>Built with a modern, production-grade stack.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011680"/>
            <a:ext cx="2697480" cy="3657600"/>
          </a:xfrm>
          <a:prstGeom prst="roundRect">
            <a:avLst/>
          </a:prstGeom>
          <a:solidFill>
            <a:srgbClr val="2A3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2011680"/>
            <a:ext cx="2697480" cy="5486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331720"/>
            <a:ext cx="2148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3B82F6"/>
                </a:solidFill>
                <a:latin typeface="Georgia"/>
              </a:defRPr>
            </a:pPr>
            <a:r>
              <a:t>Frontend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017520"/>
            <a:ext cx="21488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20"/>
              </a:spcAft>
              <a:defRPr sz="1300" b="0">
                <a:solidFill>
                  <a:srgbClr val="A0AEC0"/>
                </a:solidFill>
                <a:latin typeface="Calibri"/>
              </a:defRPr>
            </a:pPr>
            <a:r>
              <a:t>Next.js 14 + TypeScript</a:t>
            </a:r>
          </a:p>
          <a:p>
            <a:pPr algn="l">
              <a:spcAft>
                <a:spcPts val="520"/>
              </a:spcAft>
              <a:defRPr sz="1300" b="0">
                <a:solidFill>
                  <a:srgbClr val="A0AEC0"/>
                </a:solidFill>
                <a:latin typeface="Calibri"/>
              </a:defRPr>
            </a:pPr>
            <a:r>
              <a:t>shadcn/ui + Tailwind CSS</a:t>
            </a:r>
          </a:p>
          <a:p>
            <a:pPr algn="l">
              <a:spcAft>
                <a:spcPts val="520"/>
              </a:spcAft>
              <a:defRPr sz="1300" b="0">
                <a:solidFill>
                  <a:srgbClr val="A0AEC0"/>
                </a:solidFill>
                <a:latin typeface="Calibri"/>
              </a:defRPr>
            </a:pPr>
            <a:r>
              <a:t>Framer Motion animations</a:t>
            </a:r>
          </a:p>
          <a:p>
            <a:pPr algn="l">
              <a:spcAft>
                <a:spcPts val="520"/>
              </a:spcAft>
              <a:defRPr sz="1300" b="0">
                <a:solidFill>
                  <a:srgbClr val="A0AEC0"/>
                </a:solidFill>
                <a:latin typeface="Calibri"/>
              </a:defRPr>
            </a:pPr>
            <a:r>
              <a:t>Recharts visualizations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83280" y="2011680"/>
            <a:ext cx="2697480" cy="3657600"/>
          </a:xfrm>
          <a:prstGeom prst="roundRect">
            <a:avLst/>
          </a:prstGeom>
          <a:solidFill>
            <a:srgbClr val="2A3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83280" y="2011680"/>
            <a:ext cx="2697480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0" y="2331720"/>
            <a:ext cx="2148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10B981"/>
                </a:solidFill>
                <a:latin typeface="Georgia"/>
              </a:defRPr>
            </a:pPr>
            <a:r>
              <a:t>Backend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0" y="3017520"/>
            <a:ext cx="21488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20"/>
              </a:spcAft>
              <a:defRPr sz="1300" b="0">
                <a:solidFill>
                  <a:srgbClr val="A0AEC0"/>
                </a:solidFill>
                <a:latin typeface="Calibri"/>
              </a:defRPr>
            </a:pPr>
            <a:r>
              <a:t>Next.js API Routes (serverless)</a:t>
            </a:r>
          </a:p>
          <a:p>
            <a:pPr algn="l">
              <a:spcAft>
                <a:spcPts val="520"/>
              </a:spcAft>
              <a:defRPr sz="1300" b="0">
                <a:solidFill>
                  <a:srgbClr val="A0AEC0"/>
                </a:solidFill>
                <a:latin typeface="Calibri"/>
              </a:defRPr>
            </a:pPr>
            <a:r>
              <a:t>MongoDB Atlas + Mongoose</a:t>
            </a:r>
          </a:p>
          <a:p>
            <a:pPr algn="l">
              <a:spcAft>
                <a:spcPts val="520"/>
              </a:spcAft>
              <a:defRPr sz="1300" b="0">
                <a:solidFill>
                  <a:srgbClr val="A0AEC0"/>
                </a:solidFill>
                <a:latin typeface="Calibri"/>
              </a:defRPr>
            </a:pPr>
            <a:r>
              <a:t>NextAuth.js authentication</a:t>
            </a:r>
          </a:p>
          <a:p>
            <a:pPr algn="l">
              <a:spcAft>
                <a:spcPts val="520"/>
              </a:spcAft>
              <a:defRPr sz="1300" b="0">
                <a:solidFill>
                  <a:srgbClr val="A0AEC0"/>
                </a:solidFill>
                <a:latin typeface="Calibri"/>
              </a:defRPr>
            </a:pPr>
            <a:r>
              <a:t>bcrypt password hashing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60" y="2011680"/>
            <a:ext cx="2697480" cy="3657600"/>
          </a:xfrm>
          <a:prstGeom prst="roundRect">
            <a:avLst/>
          </a:prstGeom>
          <a:solidFill>
            <a:srgbClr val="2A3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9360" y="2011680"/>
            <a:ext cx="2697480" cy="54864"/>
          </a:xfrm>
          <a:prstGeom prst="rect">
            <a:avLst/>
          </a:prstGeom>
          <a:solidFill>
            <a:srgbClr val="8C1D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0" y="2331720"/>
            <a:ext cx="2148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8C1D1D"/>
                </a:solidFill>
                <a:latin typeface="Georgia"/>
              </a:defRPr>
            </a:pPr>
            <a:r>
              <a:t>AI Engine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3017520"/>
            <a:ext cx="21488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20"/>
              </a:spcAft>
              <a:defRPr sz="1300" b="0">
                <a:solidFill>
                  <a:srgbClr val="A0AEC0"/>
                </a:solidFill>
                <a:latin typeface="Calibri"/>
              </a:defRPr>
            </a:pPr>
            <a:r>
              <a:t>Google Gemini 3 Flash</a:t>
            </a:r>
          </a:p>
          <a:p>
            <a:pPr algn="l">
              <a:spcAft>
                <a:spcPts val="520"/>
              </a:spcAft>
              <a:defRPr sz="1300" b="0">
                <a:solidFill>
                  <a:srgbClr val="A0AEC0"/>
                </a:solidFill>
                <a:latin typeface="Calibri"/>
              </a:defRPr>
            </a:pPr>
            <a:r>
              <a:t>Structured JSON outputs</a:t>
            </a:r>
          </a:p>
          <a:p>
            <a:pPr algn="l">
              <a:spcAft>
                <a:spcPts val="520"/>
              </a:spcAft>
              <a:defRPr sz="1300" b="0">
                <a:solidFill>
                  <a:srgbClr val="A0AEC0"/>
                </a:solidFill>
                <a:latin typeface="Calibri"/>
              </a:defRPr>
            </a:pPr>
            <a:r>
              <a:t>Smart caching (80% hit rate)</a:t>
            </a:r>
          </a:p>
          <a:p>
            <a:pPr algn="l">
              <a:spcAft>
                <a:spcPts val="520"/>
              </a:spcAft>
              <a:defRPr sz="1300" b="0">
                <a:solidFill>
                  <a:srgbClr val="A0AEC0"/>
                </a:solidFill>
                <a:latin typeface="Calibri"/>
              </a:defRPr>
            </a:pPr>
            <a:r>
              <a:t>6 distinct AI features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235440" y="2011680"/>
            <a:ext cx="2697480" cy="3657600"/>
          </a:xfrm>
          <a:prstGeom prst="roundRect">
            <a:avLst/>
          </a:prstGeom>
          <a:solidFill>
            <a:srgbClr val="2A3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235440" y="2011680"/>
            <a:ext cx="2697480" cy="54864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509760" y="2331720"/>
            <a:ext cx="2148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8B5CF6"/>
                </a:solidFill>
                <a:latin typeface="Georgia"/>
              </a:defRPr>
            </a:pPr>
            <a:r>
              <a:t>Data Sources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09760" y="3017520"/>
            <a:ext cx="21488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20"/>
              </a:spcAft>
              <a:defRPr sz="1300" b="0">
                <a:solidFill>
                  <a:srgbClr val="A0AEC0"/>
                </a:solidFill>
                <a:latin typeface="Calibri"/>
              </a:defRPr>
            </a:pPr>
            <a:r>
              <a:t>Davidson College API (live)</a:t>
            </a:r>
          </a:p>
          <a:p>
            <a:pPr algn="l">
              <a:spcAft>
                <a:spcPts val="520"/>
              </a:spcAft>
              <a:defRPr sz="1300" b="0">
                <a:solidFill>
                  <a:srgbClr val="A0AEC0"/>
                </a:solidFill>
                <a:latin typeface="Calibri"/>
              </a:defRPr>
            </a:pPr>
            <a:r>
              <a:t>RateMyProfessors GraphQL</a:t>
            </a:r>
          </a:p>
          <a:p>
            <a:pPr algn="l">
              <a:spcAft>
                <a:spcPts val="520"/>
              </a:spcAft>
              <a:defRPr sz="1300" b="0">
                <a:solidFill>
                  <a:srgbClr val="A0AEC0"/>
                </a:solidFill>
                <a:latin typeface="Calibri"/>
              </a:defRPr>
            </a:pPr>
            <a:r>
              <a:t>463 courses indexed</a:t>
            </a:r>
          </a:p>
          <a:p>
            <a:pPr algn="l">
              <a:spcAft>
                <a:spcPts val="520"/>
              </a:spcAft>
              <a:defRPr sz="1300" b="0">
                <a:solidFill>
                  <a:srgbClr val="A0AEC0"/>
                </a:solidFill>
                <a:latin typeface="Calibri"/>
              </a:defRPr>
            </a:pPr>
            <a:r>
              <a:t>40+ alumni curated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60350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6B7B90"/>
                </a:solidFill>
                <a:latin typeface="Calibri"/>
              </a:defRPr>
            </a:pPr>
            <a:r>
              <a:t>Deployed on Vercel  |  MongoDB Atlas  |  Serverless, auto-scaling  |  &lt;2s page loads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8C1D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8C1D1D"/>
                </a:solidFill>
                <a:latin typeface="Calibri"/>
              </a:defRPr>
            </a:pPr>
            <a:r>
              <a:t>BY THE NUMBERS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058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3800" b="1">
                <a:solidFill>
                  <a:srgbClr val="1E2A38"/>
                </a:solidFill>
                <a:latin typeface="Georgia"/>
              </a:defRPr>
            </a:pPr>
            <a:r>
              <a:t>Real data, real scale, real impact.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103120"/>
            <a:ext cx="3108960" cy="2011680"/>
          </a:xfrm>
          <a:prstGeom prst="roundRect">
            <a:avLst/>
          </a:prstGeom>
          <a:solidFill>
            <a:srgbClr val="F8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377440"/>
            <a:ext cx="3108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5200" b="1">
                <a:solidFill>
                  <a:srgbClr val="3B82F6"/>
                </a:solidFill>
                <a:latin typeface="Georgia"/>
              </a:defRPr>
            </a:pPr>
            <a:r>
              <a:t>463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33756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6B7280"/>
                </a:solidFill>
                <a:latin typeface="Calibri"/>
              </a:defRPr>
            </a:pPr>
            <a:r>
              <a:t>Davidson courses fully indexed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80560" y="2103120"/>
            <a:ext cx="3108960" cy="2011680"/>
          </a:xfrm>
          <a:prstGeom prst="roundRect">
            <a:avLst/>
          </a:prstGeom>
          <a:solidFill>
            <a:srgbClr val="F8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80560" y="2377440"/>
            <a:ext cx="3108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5200" b="1">
                <a:solidFill>
                  <a:srgbClr val="8C1D1D"/>
                </a:solidFill>
                <a:latin typeface="Georgia"/>
              </a:defRPr>
            </a:pPr>
            <a:r>
              <a:t>24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333756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6B7280"/>
                </a:solidFill>
                <a:latin typeface="Calibri"/>
              </a:defRPr>
            </a:pPr>
            <a:r>
              <a:t>Career paths mapped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2103120"/>
            <a:ext cx="3108960" cy="2011680"/>
          </a:xfrm>
          <a:prstGeom prst="roundRect">
            <a:avLst/>
          </a:prstGeom>
          <a:solidFill>
            <a:srgbClr val="F8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0" y="2377440"/>
            <a:ext cx="3108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5200" b="1">
                <a:solidFill>
                  <a:srgbClr val="10B981"/>
                </a:solidFill>
                <a:latin typeface="Georgia"/>
              </a:defRPr>
            </a:pPr>
            <a:r>
              <a:t>40+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333756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6B7280"/>
                </a:solidFill>
                <a:latin typeface="Calibri"/>
              </a:defRPr>
            </a:pPr>
            <a:r>
              <a:t>Alumni contacts curated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" y="4480560"/>
            <a:ext cx="3108960" cy="2011680"/>
          </a:xfrm>
          <a:prstGeom prst="roundRect">
            <a:avLst/>
          </a:prstGeom>
          <a:solidFill>
            <a:srgbClr val="F8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754880"/>
            <a:ext cx="3108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5200" b="1">
                <a:solidFill>
                  <a:srgbClr val="8B5CF6"/>
                </a:solidFill>
                <a:latin typeface="Georgia"/>
              </a:defRPr>
            </a:pPr>
            <a:r>
              <a:t>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571500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6B7280"/>
                </a:solidFill>
                <a:latin typeface="Calibri"/>
              </a:defRPr>
            </a:pPr>
            <a:r>
              <a:t>AI-powered features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480560" y="4480560"/>
            <a:ext cx="3108960" cy="2011680"/>
          </a:xfrm>
          <a:prstGeom prst="roundRect">
            <a:avLst/>
          </a:prstGeom>
          <a:solidFill>
            <a:srgbClr val="F8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80560" y="4754880"/>
            <a:ext cx="3108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5200" b="1">
                <a:solidFill>
                  <a:srgbClr val="F59E0B"/>
                </a:solidFill>
                <a:latin typeface="Georgia"/>
              </a:defRPr>
            </a:pPr>
            <a:r>
              <a:t>128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0" y="571500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6B7280"/>
                </a:solidFill>
                <a:latin typeface="Calibri"/>
              </a:defRPr>
            </a:pPr>
            <a:r>
              <a:t>Credits tracked to graduation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46720" y="4480560"/>
            <a:ext cx="3108960" cy="2011680"/>
          </a:xfrm>
          <a:prstGeom prst="roundRect">
            <a:avLst/>
          </a:prstGeom>
          <a:solidFill>
            <a:srgbClr val="F8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46720" y="4754880"/>
            <a:ext cx="3108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5200" b="1">
                <a:solidFill>
                  <a:srgbClr val="EC4899"/>
                </a:solidFill>
                <a:latin typeface="Georgia"/>
              </a:defRPr>
            </a:pPr>
            <a:r>
              <a:t>22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571500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6B7280"/>
                </a:solidFill>
                <a:latin typeface="Calibri"/>
              </a:defRPr>
            </a:pPr>
            <a:r>
              <a:t>API endpoints built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8C1D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8C1D1D"/>
                </a:solidFill>
                <a:latin typeface="Calibri"/>
              </a:defRPr>
            </a:pPr>
            <a:r>
              <a:t>WHY WE WIN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058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3800" b="1">
                <a:solidFill>
                  <a:srgbClr val="1E2A38"/>
                </a:solidFill>
                <a:latin typeface="Georgia"/>
              </a:defRPr>
            </a:pPr>
            <a:r>
              <a:t>This isn't another generic course planner.</a:t>
            </a:r>
          </a:p>
        </p:txBody>
      </p:sp>
      <p:sp>
        <p:nvSpPr>
          <p:cNvPr id="5" name="Oval 4"/>
          <p:cNvSpPr/>
          <p:nvPr/>
        </p:nvSpPr>
        <p:spPr>
          <a:xfrm>
            <a:off x="914400" y="2121408"/>
            <a:ext cx="164592" cy="164592"/>
          </a:xfrm>
          <a:prstGeom prst="ellipse">
            <a:avLst/>
          </a:prstGeom>
          <a:solidFill>
            <a:srgbClr val="8C1D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20116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1E2A38"/>
                </a:solidFill>
                <a:latin typeface="Georgia"/>
              </a:defRPr>
            </a:pPr>
            <a:r>
              <a:t>Backward-from-career planning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0" y="2011680"/>
            <a:ext cx="6400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6B7280"/>
                </a:solidFill>
                <a:latin typeface="Calibri"/>
              </a:defRPr>
            </a:pPr>
            <a:r>
              <a:t>Most tools ask “what courses should I take?” We ask “what career do you want?” and build backward.</a:t>
            </a:r>
          </a:p>
        </p:txBody>
      </p:sp>
      <p:sp>
        <p:nvSpPr>
          <p:cNvPr id="8" name="Oval 7"/>
          <p:cNvSpPr/>
          <p:nvPr/>
        </p:nvSpPr>
        <p:spPr>
          <a:xfrm>
            <a:off x="914400" y="3035808"/>
            <a:ext cx="164592" cy="164592"/>
          </a:xfrm>
          <a:prstGeom prst="ellipse">
            <a:avLst/>
          </a:prstGeom>
          <a:solidFill>
            <a:srgbClr val="8C1D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9260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1E2A38"/>
                </a:solidFill>
                <a:latin typeface="Georgia"/>
              </a:defRPr>
            </a:pPr>
            <a:r>
              <a:t>Davidson-native depth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0" y="2926080"/>
            <a:ext cx="6400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6B7280"/>
                </a:solidFill>
                <a:latin typeface="Calibri"/>
              </a:defRPr>
            </a:pPr>
            <a:r>
              <a:t>463 real courses, real faculty, real alumni, live enrollment from Davidson’s own API.</a:t>
            </a:r>
          </a:p>
        </p:txBody>
      </p:sp>
      <p:sp>
        <p:nvSpPr>
          <p:cNvPr id="11" name="Oval 10"/>
          <p:cNvSpPr/>
          <p:nvPr/>
        </p:nvSpPr>
        <p:spPr>
          <a:xfrm>
            <a:off x="914400" y="3950208"/>
            <a:ext cx="164592" cy="164592"/>
          </a:xfrm>
          <a:prstGeom prst="ellipse">
            <a:avLst/>
          </a:prstGeom>
          <a:solidFill>
            <a:srgbClr val="8C1D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38404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1E2A38"/>
                </a:solidFill>
                <a:latin typeface="Georgia"/>
              </a:defRPr>
            </a:pPr>
            <a:r>
              <a:t>AI-synthesized professor reviews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0" y="3840480"/>
            <a:ext cx="6400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6B7280"/>
                </a:solidFill>
                <a:latin typeface="Calibri"/>
              </a:defRPr>
            </a:pPr>
            <a:r>
              <a:t>Our AI reads actual RMP reviews and creates balanced, actionable summaries with tips for success.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864608"/>
            <a:ext cx="164592" cy="164592"/>
          </a:xfrm>
          <a:prstGeom prst="ellipse">
            <a:avLst/>
          </a:prstGeom>
          <a:solidFill>
            <a:srgbClr val="8C1D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47548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1E2A38"/>
                </a:solidFill>
                <a:latin typeface="Georgia"/>
              </a:defRPr>
            </a:pPr>
            <a:r>
              <a:t>Career intelligence on every course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0" y="4754880"/>
            <a:ext cx="6400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6B7280"/>
                </a:solidFill>
                <a:latin typeface="Calibri"/>
              </a:defRPr>
            </a:pPr>
            <a:r>
              <a:t>Every course shows relevance: “CSC 121 is 90% relevant to SWE, 45% to Data Science.”</a:t>
            </a:r>
          </a:p>
        </p:txBody>
      </p:sp>
      <p:sp>
        <p:nvSpPr>
          <p:cNvPr id="17" name="Oval 16"/>
          <p:cNvSpPr/>
          <p:nvPr/>
        </p:nvSpPr>
        <p:spPr>
          <a:xfrm>
            <a:off x="914400" y="5779008"/>
            <a:ext cx="164592" cy="164592"/>
          </a:xfrm>
          <a:prstGeom prst="ellipse">
            <a:avLst/>
          </a:prstGeom>
          <a:solidFill>
            <a:srgbClr val="8C1D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71600" y="56692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1E2A38"/>
                </a:solidFill>
                <a:latin typeface="Georgia"/>
              </a:defRPr>
            </a:pPr>
            <a:r>
              <a:t>Alumni network + cold email outreach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0" y="5669280"/>
            <a:ext cx="6400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6B7280"/>
                </a:solidFill>
                <a:latin typeface="Calibri"/>
              </a:defRPr>
            </a:pPr>
            <a:r>
              <a:t>We don’t just show alumni—we generate personalized outreach emails so students actually network.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A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8C1D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8C1D1D"/>
                </a:solidFill>
                <a:latin typeface="Calibri"/>
              </a:defRPr>
            </a:pPr>
            <a:r>
              <a:t>DEMO WALKTHROUGH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3600" b="1">
                <a:solidFill>
                  <a:srgbClr val="FFFFFF"/>
                </a:solidFill>
                <a:latin typeface="Georgia"/>
              </a:defRPr>
            </a:pPr>
            <a:r>
              <a:t>From sign-up to career roadmap in 60 seconds.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011680"/>
            <a:ext cx="2103120" cy="3474720"/>
          </a:xfrm>
          <a:prstGeom prst="roundRect">
            <a:avLst/>
          </a:prstGeom>
          <a:solidFill>
            <a:srgbClr val="2A3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88720" y="2331720"/>
            <a:ext cx="640080" cy="64008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2395728"/>
            <a:ext cx="640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2600" b="1">
                <a:solidFill>
                  <a:srgbClr val="FFFFFF"/>
                </a:solidFill>
                <a:latin typeface="Georgia"/>
              </a:defRPr>
            </a:pPr>
            <a: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24612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FFFFFF"/>
                </a:solidFill>
                <a:latin typeface="Georgia"/>
              </a:defRPr>
            </a:pPr>
            <a:r>
              <a:t>Sign Up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840480"/>
            <a:ext cx="1828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520"/>
              </a:spcAft>
              <a:defRPr sz="1300" b="0">
                <a:solidFill>
                  <a:srgbClr val="A0AEC0"/>
                </a:solidFill>
                <a:latin typeface="Calibri"/>
              </a:defRPr>
            </a:pPr>
            <a:r>
              <a:t>Create account, set</a:t>
            </a:r>
          </a:p>
          <a:p>
            <a:pPr algn="ctr">
              <a:spcAft>
                <a:spcPts val="520"/>
              </a:spcAft>
              <a:defRPr sz="1300" b="0">
                <a:solidFill>
                  <a:srgbClr val="A0AEC0"/>
                </a:solidFill>
                <a:latin typeface="Calibri"/>
              </a:defRPr>
            </a:pPr>
            <a:r>
              <a:t>major &amp; interests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20" y="3383280"/>
            <a:ext cx="228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6B7B90"/>
                </a:solidFill>
                <a:latin typeface="Calibri"/>
              </a:defRPr>
            </a:pPr>
            <a:r>
              <a:t>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88920" y="2011680"/>
            <a:ext cx="2103120" cy="3474720"/>
          </a:xfrm>
          <a:prstGeom prst="roundRect">
            <a:avLst/>
          </a:prstGeom>
          <a:solidFill>
            <a:srgbClr val="2A3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520440" y="2331720"/>
            <a:ext cx="640080" cy="640080"/>
          </a:xfrm>
          <a:prstGeom prst="ellipse">
            <a:avLst/>
          </a:prstGeom>
          <a:solidFill>
            <a:srgbClr val="8C1D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20440" y="2395728"/>
            <a:ext cx="640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2600" b="1">
                <a:solidFill>
                  <a:srgbClr val="FFFFFF"/>
                </a:solidFill>
                <a:latin typeface="Georgia"/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26080" y="324612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FFFFFF"/>
                </a:solidFill>
                <a:latin typeface="Georgia"/>
              </a:defRPr>
            </a:pPr>
            <a:r>
              <a:t>Explore Careers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0" y="3840480"/>
            <a:ext cx="1828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520"/>
              </a:spcAft>
              <a:defRPr sz="1300" b="0">
                <a:solidFill>
                  <a:srgbClr val="A0AEC0"/>
                </a:solidFill>
                <a:latin typeface="Calibri"/>
              </a:defRPr>
            </a:pPr>
            <a:r>
              <a:t>Browse 24 paths,</a:t>
            </a:r>
          </a:p>
          <a:p>
            <a:pPr algn="ctr">
              <a:spcAft>
                <a:spcPts val="520"/>
              </a:spcAft>
              <a:defRPr sz="1300" b="0">
                <a:solidFill>
                  <a:srgbClr val="A0AEC0"/>
                </a:solidFill>
                <a:latin typeface="Calibri"/>
              </a:defRPr>
            </a:pPr>
            <a:r>
              <a:t>pick your target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92040" y="3383280"/>
            <a:ext cx="228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6B7B90"/>
                </a:solidFill>
                <a:latin typeface="Calibri"/>
              </a:defRPr>
            </a:pPr>
            <a:r>
              <a:t>▸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120640" y="2011680"/>
            <a:ext cx="2103120" cy="3474720"/>
          </a:xfrm>
          <a:prstGeom prst="roundRect">
            <a:avLst/>
          </a:prstGeom>
          <a:solidFill>
            <a:srgbClr val="2A3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852160" y="2331720"/>
            <a:ext cx="640080" cy="6400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0" y="2395728"/>
            <a:ext cx="640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2600" b="1">
                <a:solidFill>
                  <a:srgbClr val="FFFFFF"/>
                </a:solidFill>
                <a:latin typeface="Georgia"/>
              </a:defRPr>
            </a:pPr>
            <a: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57800" y="324612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FFFFFF"/>
                </a:solidFill>
                <a:latin typeface="Georgia"/>
              </a:defRPr>
            </a:pPr>
            <a:r>
              <a:t>Generate Plan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57800" y="3840480"/>
            <a:ext cx="1828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520"/>
              </a:spcAft>
              <a:defRPr sz="1300" b="0">
                <a:solidFill>
                  <a:srgbClr val="A0AEC0"/>
                </a:solidFill>
                <a:latin typeface="Calibri"/>
              </a:defRPr>
            </a:pPr>
            <a:r>
              <a:t>AI builds courses,</a:t>
            </a:r>
          </a:p>
          <a:p>
            <a:pPr algn="ctr">
              <a:spcAft>
                <a:spcPts val="520"/>
              </a:spcAft>
              <a:defRPr sz="1300" b="0">
                <a:solidFill>
                  <a:srgbClr val="A0AEC0"/>
                </a:solidFill>
                <a:latin typeface="Calibri"/>
              </a:defRPr>
            </a:pPr>
            <a:r>
              <a:t>people, activities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23760" y="3383280"/>
            <a:ext cx="228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6B7B90"/>
                </a:solidFill>
                <a:latin typeface="Calibri"/>
              </a:defRPr>
            </a:pPr>
            <a:r>
              <a:t>▸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52360" y="2011680"/>
            <a:ext cx="2103120" cy="3474720"/>
          </a:xfrm>
          <a:prstGeom prst="roundRect">
            <a:avLst/>
          </a:prstGeom>
          <a:solidFill>
            <a:srgbClr val="2A3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183880" y="2331720"/>
            <a:ext cx="640080" cy="64008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83880" y="2395728"/>
            <a:ext cx="640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2600" b="1">
                <a:solidFill>
                  <a:srgbClr val="FFFFFF"/>
                </a:solidFill>
                <a:latin typeface="Georgia"/>
              </a:defRPr>
            </a:pPr>
            <a: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0" y="324612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FFFFFF"/>
                </a:solidFill>
                <a:latin typeface="Georgia"/>
              </a:defRPr>
            </a:pPr>
            <a:r>
              <a:t>Build Schedule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89520" y="3840480"/>
            <a:ext cx="1828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520"/>
              </a:spcAft>
              <a:defRPr sz="1300" b="0">
                <a:solidFill>
                  <a:srgbClr val="A0AEC0"/>
                </a:solidFill>
                <a:latin typeface="Calibri"/>
              </a:defRPr>
            </a:pPr>
            <a:r>
              <a:t>Drag &amp; drop into</a:t>
            </a:r>
          </a:p>
          <a:p>
            <a:pPr algn="ctr">
              <a:spcAft>
                <a:spcPts val="520"/>
              </a:spcAft>
              <a:defRPr sz="1300" b="0">
                <a:solidFill>
                  <a:srgbClr val="A0AEC0"/>
                </a:solidFill>
                <a:latin typeface="Calibri"/>
              </a:defRPr>
            </a:pPr>
            <a:r>
              <a:t>4-year roadmap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55480" y="3383280"/>
            <a:ext cx="228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6B7B90"/>
                </a:solidFill>
                <a:latin typeface="Calibri"/>
              </a:defRPr>
            </a:pPr>
            <a:r>
              <a:t>▸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784080" y="2011680"/>
            <a:ext cx="2103120" cy="3474720"/>
          </a:xfrm>
          <a:prstGeom prst="roundRect">
            <a:avLst/>
          </a:prstGeom>
          <a:solidFill>
            <a:srgbClr val="2A3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0515600" y="2331720"/>
            <a:ext cx="640080" cy="64008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515600" y="2395728"/>
            <a:ext cx="640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2600" b="1">
                <a:solidFill>
                  <a:srgbClr val="FFFFFF"/>
                </a:solidFill>
                <a:latin typeface="Georgia"/>
              </a:defRPr>
            </a:pPr>
            <a: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921240" y="324612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FFFFFF"/>
                </a:solidFill>
                <a:latin typeface="Georgia"/>
              </a:defRPr>
            </a:pPr>
            <a:r>
              <a:t>Network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921240" y="3840480"/>
            <a:ext cx="1828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520"/>
              </a:spcAft>
              <a:defRPr sz="1300" b="0">
                <a:solidFill>
                  <a:srgbClr val="A0AEC0"/>
                </a:solidFill>
                <a:latin typeface="Calibri"/>
              </a:defRPr>
            </a:pPr>
            <a:r>
              <a:t>Find alumni, generate</a:t>
            </a:r>
          </a:p>
          <a:p>
            <a:pPr algn="ctr">
              <a:spcAft>
                <a:spcPts val="520"/>
              </a:spcAft>
              <a:defRPr sz="1300" b="0">
                <a:solidFill>
                  <a:srgbClr val="A0AEC0"/>
                </a:solidFill>
                <a:latin typeface="Calibri"/>
              </a:defRPr>
            </a:pPr>
            <a:r>
              <a:t>cold emails with AI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" y="5943600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6B7B90"/>
                </a:solidFill>
                <a:latin typeface="Calibri"/>
              </a:defRPr>
            </a:pPr>
            <a:r>
              <a:t>Live demo available — try it yourself at the booth!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8C1D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8C1D1D"/>
                </a:solidFill>
                <a:latin typeface="Calibri"/>
              </a:defRPr>
            </a:pPr>
            <a:r>
              <a:t>WHAT'S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058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3800" b="1">
                <a:solidFill>
                  <a:srgbClr val="1E2A38"/>
                </a:solidFill>
                <a:latin typeface="Georgia"/>
              </a:defRPr>
            </a:pPr>
            <a:r>
              <a:t>From Davidson prototype to institutional platform.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011680"/>
            <a:ext cx="3474720" cy="4114800"/>
          </a:xfrm>
          <a:prstGeom prst="roundRect">
            <a:avLst/>
          </a:prstGeom>
          <a:solidFill>
            <a:srgbClr val="F8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2011680"/>
            <a:ext cx="3474720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05840" y="2377440"/>
            <a:ext cx="1188720" cy="41148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404872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FFFFFF"/>
                </a:solidFill>
                <a:latin typeface="Calibri"/>
              </a:defRPr>
            </a:pPr>
            <a:r>
              <a:t>NOW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10896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900" b="1">
                <a:solidFill>
                  <a:srgbClr val="1E2A38"/>
                </a:solidFill>
                <a:latin typeface="Georgia"/>
              </a:defRPr>
            </a:pPr>
            <a:r>
              <a:t>hack@DAVIDSON MVP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749040"/>
            <a:ext cx="29260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6B7280"/>
                </a:solidFill>
                <a:latin typeface="Calibri"/>
              </a:defRPr>
            </a:pPr>
            <a:r>
              <a:t>463 courses, 24 career paths, 6 AI features, live enrollment sync, alumni network, cold email gen.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80559" y="2011680"/>
            <a:ext cx="3474720" cy="4114800"/>
          </a:xfrm>
          <a:prstGeom prst="roundRect">
            <a:avLst/>
          </a:prstGeom>
          <a:solidFill>
            <a:srgbClr val="F8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80559" y="2011680"/>
            <a:ext cx="3474720" cy="5486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754879" y="2377440"/>
            <a:ext cx="1188720" cy="411480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54879" y="2404872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FFFFFF"/>
                </a:solidFill>
                <a:latin typeface="Calibri"/>
              </a:defRPr>
            </a:pPr>
            <a:r>
              <a:t>NEXT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79" y="310896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900" b="1">
                <a:solidFill>
                  <a:srgbClr val="1E2A38"/>
                </a:solidFill>
                <a:latin typeface="Georgia"/>
              </a:defRPr>
            </a:pPr>
            <a:r>
              <a:t>Campus-Wide Launch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79" y="3749040"/>
            <a:ext cx="29260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6B7280"/>
                </a:solidFill>
                <a:latin typeface="Calibri"/>
              </a:defRPr>
            </a:pPr>
            <a:r>
              <a:t>Student beta testing, advisor integrations, mobile optimization, feedback loop with academic deans.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598" y="2011680"/>
            <a:ext cx="3474720" cy="4114800"/>
          </a:xfrm>
          <a:prstGeom prst="roundRect">
            <a:avLst/>
          </a:prstGeom>
          <a:solidFill>
            <a:srgbClr val="F8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29598" y="2011680"/>
            <a:ext cx="3474720" cy="54864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503918" y="2377440"/>
            <a:ext cx="1188720" cy="411480"/>
          </a:xfrm>
          <a:prstGeom prst="round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03918" y="2404872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FFFFFF"/>
                </a:solidFill>
                <a:latin typeface="Calibri"/>
              </a:defRPr>
            </a:pPr>
            <a:r>
              <a:t>FUTURE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18" y="310896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900" b="1">
                <a:solidFill>
                  <a:srgbClr val="1E2A38"/>
                </a:solidFill>
                <a:latin typeface="Georgia"/>
              </a:defRPr>
            </a:pPr>
            <a:r>
              <a:t>Multi-School Platform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03918" y="3749040"/>
            <a:ext cx="29260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6B7280"/>
                </a:solidFill>
                <a:latin typeface="Calibri"/>
              </a:defRPr>
            </a:pPr>
            <a:r>
              <a:t>Adapt the engine for other liberal arts colleges. B2B licensing model for institutional career offices.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A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8C1D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01200" y="457200"/>
            <a:ext cx="2743200" cy="2743200"/>
          </a:xfrm>
          <a:prstGeom prst="ellipse">
            <a:avLst/>
          </a:prstGeom>
          <a:solidFill>
            <a:srgbClr val="2A3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914400" y="4572000"/>
            <a:ext cx="2286000" cy="2286000"/>
          </a:xfrm>
          <a:prstGeom prst="ellipse">
            <a:avLst/>
          </a:prstGeom>
          <a:solidFill>
            <a:srgbClr val="2A3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394960" y="1188720"/>
            <a:ext cx="1371600" cy="1371600"/>
          </a:xfrm>
          <a:prstGeom prst="roundRect">
            <a:avLst/>
          </a:prstGeom>
          <a:solidFill>
            <a:srgbClr val="8C1D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94960" y="1325880"/>
            <a:ext cx="1371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3600" b="1">
                <a:solidFill>
                  <a:srgbClr val="FFFFFF"/>
                </a:solidFill>
                <a:latin typeface="Georgia"/>
              </a:defRPr>
            </a:pPr>
            <a:r>
              <a:t>MIS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926080"/>
            <a:ext cx="9418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4400" b="1">
                <a:solidFill>
                  <a:srgbClr val="FFFFFF"/>
                </a:solidFill>
                <a:latin typeface="Georgia"/>
              </a:defRPr>
            </a:pPr>
            <a:r>
              <a:t>Your degree. Your career. One plan.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0" y="4023360"/>
            <a:ext cx="7589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A0AEC0"/>
                </a:solidFill>
                <a:latin typeface="Calibri"/>
              </a:defRPr>
            </a:pPr>
            <a:r>
              <a:t>MakeItSo gives every Davidson student an AI career advisor—free, personalized, and always available.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663440" y="4937760"/>
            <a:ext cx="2834640" cy="594360"/>
          </a:xfrm>
          <a:prstGeom prst="roundRect">
            <a:avLst/>
          </a:prstGeom>
          <a:solidFill>
            <a:srgbClr val="8C1D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63440" y="4983480"/>
            <a:ext cx="2834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FFFFFF"/>
                </a:solidFill>
                <a:latin typeface="Calibri"/>
              </a:defRPr>
            </a:pPr>
            <a:r>
              <a:t>Try the Live Demo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5852160"/>
            <a:ext cx="8503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6B7B90"/>
                </a:solidFill>
                <a:latin typeface="Calibri"/>
              </a:defRPr>
            </a:pPr>
            <a:r>
              <a:t>hack@DAVIDSON 2025  |  Questions? Come talk to us!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