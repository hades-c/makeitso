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"/>
            <a:ext cx="2743200" cy="2743200"/>
          </a:xfrm>
          <a:prstGeom prst="ellipse">
            <a:avLst/>
          </a:prstGeom>
          <a:solidFill>
            <a:srgbClr val="2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286000" cy="2286000"/>
          </a:xfrm>
          <a:prstGeom prst="ellipse">
            <a:avLst/>
          </a:prstGeom>
          <a:solidFill>
            <a:srgbClr val="2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94960" y="1463040"/>
            <a:ext cx="1371600" cy="1371600"/>
          </a:xfrm>
          <a:prstGeom prst="roundRect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0" y="1600200"/>
            <a:ext cx="13716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MIS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41832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Georgia"/>
              </a:defRPr>
            </a:pPr>
            <a:r>
              <a:t>MakeItSo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297680"/>
            <a:ext cx="85039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A0AEC0"/>
                </a:solidFill>
                <a:latin typeface="Calibri"/>
              </a:defRPr>
            </a:pPr>
            <a:r>
              <a:t>AI-powered course planning that connects what you study to where you're going.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760720"/>
            <a:ext cx="8503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B90"/>
                </a:solidFill>
                <a:latin typeface="Calibri"/>
              </a:defRPr>
            </a:pPr>
            <a:r>
              <a:t>hack@DAVIDSON 2025  |  Built for Davidson College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C1D1D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E2A38"/>
                </a:solidFill>
                <a:latin typeface="Georgia"/>
              </a:defRPr>
            </a:pPr>
            <a:r>
              <a:t>Students pick courses blind to career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606040" cy="393192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2468880"/>
            <a:ext cx="594360" cy="594360"/>
          </a:xfrm>
          <a:prstGeom prst="ellipse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2532888"/>
            <a:ext cx="5943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37560"/>
            <a:ext cx="21488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A38"/>
                </a:solidFill>
                <a:latin typeface="Georgia"/>
              </a:defRPr>
            </a:pPr>
            <a:r>
              <a:t>No career connection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069079"/>
            <a:ext cx="214884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Students choose courses with zero visibility into how they map to actual careers.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194560"/>
            <a:ext cx="2606040" cy="393192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6280" y="2468880"/>
            <a:ext cx="594360" cy="594360"/>
          </a:xfrm>
          <a:prstGeom prst="ellipse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532888"/>
            <a:ext cx="5943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337560"/>
            <a:ext cx="21488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A38"/>
                </a:solidFill>
                <a:latin typeface="Georgia"/>
              </a:defRPr>
            </a:pPr>
            <a:r>
              <a:t>Information overload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069079"/>
            <a:ext cx="214884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463 courses, 24 departments. Generic advisor meetings aren't enough.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194560"/>
            <a:ext cx="2606040" cy="393192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60920" y="2468880"/>
            <a:ext cx="594360" cy="594360"/>
          </a:xfrm>
          <a:prstGeom prst="ellipse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2532888"/>
            <a:ext cx="5943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337560"/>
            <a:ext cx="21488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A38"/>
                </a:solidFill>
                <a:latin typeface="Georgia"/>
              </a:defRPr>
            </a:pPr>
            <a:r>
              <a:t>Networking anxiety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069079"/>
            <a:ext cx="214884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Alumni can help, but students don't know what to say or who to reach.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2194560"/>
            <a:ext cx="2606040" cy="393192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95560" y="2468880"/>
            <a:ext cx="594360" cy="594360"/>
          </a:xfrm>
          <a:prstGeom prst="ellipse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2532888"/>
            <a:ext cx="5943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3337560"/>
            <a:ext cx="214884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2A38"/>
                </a:solidFill>
                <a:latin typeface="Georgia"/>
              </a:defRPr>
            </a:pPr>
            <a:r>
              <a:t>Professor roulette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4069079"/>
            <a:ext cx="214884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RateMyProfessors is noisy. No synthesized, actionable professor intel.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C1D1D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E2A38"/>
                </a:solidFill>
                <a:latin typeface="Georgia"/>
              </a:defRPr>
            </a:pPr>
            <a:r>
              <a:t>Don't ask "what courses?" Ask "what career?"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7280"/>
                </a:solidFill>
                <a:latin typeface="Calibri"/>
              </a:defRPr>
            </a:pPr>
            <a:r>
              <a:t>MakeItSo flips planning on its head. Start with your dream career, and AI builds your entire roadmap backward—courses, people, activities, timeline.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2743200"/>
            <a:ext cx="4389120" cy="365760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743200"/>
            <a:ext cx="43891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3017520"/>
            <a:ext cx="36576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E2A38"/>
                </a:solidFill>
                <a:latin typeface="Georgia"/>
              </a:defRPr>
            </a:pPr>
            <a:r>
              <a:t>Plan Forward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520440"/>
            <a:ext cx="3657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0B981"/>
                </a:solidFill>
                <a:latin typeface="Calibri"/>
              </a:defRPr>
            </a:pPr>
            <a:r>
              <a:t>Start with your interests</a:t>
            </a:r>
          </a:p>
        </p:txBody>
      </p:sp>
      <p:sp>
        <p:nvSpPr>
          <p:cNvPr id="10" name="Oval 9"/>
          <p:cNvSpPr/>
          <p:nvPr/>
        </p:nvSpPr>
        <p:spPr>
          <a:xfrm>
            <a:off x="1737360" y="414223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4160520"/>
            <a:ext cx="2743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142232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Calibri"/>
              </a:defRPr>
            </a:pPr>
            <a:r>
              <a:t>Tell us what fascinates you</a:t>
            </a:r>
          </a:p>
        </p:txBody>
      </p:sp>
      <p:sp>
        <p:nvSpPr>
          <p:cNvPr id="13" name="Oval 12"/>
          <p:cNvSpPr/>
          <p:nvPr/>
        </p:nvSpPr>
        <p:spPr>
          <a:xfrm>
            <a:off x="1737360" y="464515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4663440"/>
            <a:ext cx="2743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645152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Calibri"/>
              </a:defRPr>
            </a:pPr>
            <a:r>
              <a:t>Get AI course recommendations</a:t>
            </a:r>
          </a:p>
        </p:txBody>
      </p:sp>
      <p:sp>
        <p:nvSpPr>
          <p:cNvPr id="16" name="Oval 15"/>
          <p:cNvSpPr/>
          <p:nvPr/>
        </p:nvSpPr>
        <p:spPr>
          <a:xfrm>
            <a:off x="1737360" y="514807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5166360"/>
            <a:ext cx="2743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5148072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Calibri"/>
              </a:defRPr>
            </a:pPr>
            <a:r>
              <a:t>Explore 24 career paths</a:t>
            </a:r>
          </a:p>
        </p:txBody>
      </p:sp>
      <p:sp>
        <p:nvSpPr>
          <p:cNvPr id="19" name="Oval 18"/>
          <p:cNvSpPr/>
          <p:nvPr/>
        </p:nvSpPr>
        <p:spPr>
          <a:xfrm>
            <a:off x="1737360" y="5650992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5669280"/>
            <a:ext cx="2743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650992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Calibri"/>
              </a:defRPr>
            </a:pPr>
            <a:r>
              <a:t>Discover new possibilities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743200"/>
            <a:ext cx="4389120" cy="365760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2743200"/>
            <a:ext cx="4389120" cy="54864"/>
          </a:xfrm>
          <a:prstGeom prst="rect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3017520"/>
            <a:ext cx="36576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E2A38"/>
                </a:solidFill>
                <a:latin typeface="Georgia"/>
              </a:defRPr>
            </a:pPr>
            <a:r>
              <a:t>Plan Backward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520440"/>
            <a:ext cx="3657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C1D1D"/>
                </a:solidFill>
                <a:latin typeface="Calibri"/>
              </a:defRPr>
            </a:pPr>
            <a:r>
              <a:t>Start with your dream career</a:t>
            </a:r>
          </a:p>
        </p:txBody>
      </p:sp>
      <p:sp>
        <p:nvSpPr>
          <p:cNvPr id="26" name="Oval 25"/>
          <p:cNvSpPr/>
          <p:nvPr/>
        </p:nvSpPr>
        <p:spPr>
          <a:xfrm>
            <a:off x="6766560" y="4142232"/>
            <a:ext cx="274320" cy="274320"/>
          </a:xfrm>
          <a:prstGeom prst="ellipse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160520"/>
            <a:ext cx="2743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142232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Calibri"/>
              </a:defRPr>
            </a:pPr>
            <a:r>
              <a:t>Pick your target role</a:t>
            </a:r>
          </a:p>
        </p:txBody>
      </p:sp>
      <p:sp>
        <p:nvSpPr>
          <p:cNvPr id="29" name="Oval 28"/>
          <p:cNvSpPr/>
          <p:nvPr/>
        </p:nvSpPr>
        <p:spPr>
          <a:xfrm>
            <a:off x="6766560" y="4645152"/>
            <a:ext cx="274320" cy="274320"/>
          </a:xfrm>
          <a:prstGeom prst="ellipse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4663440"/>
            <a:ext cx="2743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645152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Calibri"/>
              </a:defRPr>
            </a:pPr>
            <a:r>
              <a:t>AI generates full action plan</a:t>
            </a:r>
          </a:p>
        </p:txBody>
      </p:sp>
      <p:sp>
        <p:nvSpPr>
          <p:cNvPr id="32" name="Oval 31"/>
          <p:cNvSpPr/>
          <p:nvPr/>
        </p:nvSpPr>
        <p:spPr>
          <a:xfrm>
            <a:off x="6766560" y="5148072"/>
            <a:ext cx="274320" cy="274320"/>
          </a:xfrm>
          <a:prstGeom prst="ellipse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5166360"/>
            <a:ext cx="2743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148072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Calibri"/>
              </a:defRPr>
            </a:pPr>
            <a:r>
              <a:t>Courses + People + Activities</a:t>
            </a:r>
          </a:p>
        </p:txBody>
      </p:sp>
      <p:sp>
        <p:nvSpPr>
          <p:cNvPr id="35" name="Oval 34"/>
          <p:cNvSpPr/>
          <p:nvPr/>
        </p:nvSpPr>
        <p:spPr>
          <a:xfrm>
            <a:off x="6766560" y="5650992"/>
            <a:ext cx="274320" cy="274320"/>
          </a:xfrm>
          <a:prstGeom prst="ellipse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5669280"/>
            <a:ext cx="2743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5650992"/>
            <a:ext cx="3200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11111"/>
                </a:solidFill>
                <a:latin typeface="Calibri"/>
              </a:defRPr>
            </a:pPr>
            <a:r>
              <a:t>Follow your roadmap to success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C1D1D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E2A38"/>
                </a:solidFill>
                <a:latin typeface="Georgia"/>
              </a:defRPr>
            </a:pPr>
            <a:r>
              <a:t>Six AI-powered tools, one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438912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03120" y="237744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441448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A38"/>
                </a:solidFill>
                <a:latin typeface="Georgia"/>
              </a:defRPr>
            </a:pPr>
            <a:r>
              <a:t>Smart Course Explorer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2926080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463 real Davidson courses with live enrollment, RateMyProfessors ratings, and AI-generated insights for key topics, skills, and career connections.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011680"/>
            <a:ext cx="3474720" cy="438912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011680"/>
            <a:ext cx="3474720" cy="54864"/>
          </a:xfrm>
          <a:prstGeom prst="rect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52159" y="2377440"/>
            <a:ext cx="640080" cy="640080"/>
          </a:xfrm>
          <a:prstGeom prst="ellipse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59" y="2441448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29184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A38"/>
                </a:solidFill>
                <a:latin typeface="Georgia"/>
              </a:defRPr>
            </a:pPr>
            <a:r>
              <a:t>AI Career Planner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931920"/>
            <a:ext cx="2926080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Tell us your dream career. Gemini generates a complete action plan: recommended courses, people to meet, activities to do, and Davidson-specific insights.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8" y="2011680"/>
            <a:ext cx="3474720" cy="438912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598" y="201168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198" y="237744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8" y="2441448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329184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A38"/>
                </a:solidFill>
                <a:latin typeface="Georgia"/>
              </a:defRPr>
            </a:pPr>
            <a:r>
              <a:t>4-Year Roadmap Builder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8" y="3931920"/>
            <a:ext cx="2926080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AI creates optimized semester-by-semester schedules respecting prerequisites, distribution requirements, and workload balance.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C1D1D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E2A38"/>
                </a:solidFill>
                <a:latin typeface="Georgia"/>
              </a:defRPr>
            </a:pPr>
            <a:r>
              <a:t>Real data. Real people. Real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438912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03120" y="237744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441448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A38"/>
                </a:solidFill>
                <a:latin typeface="Georgia"/>
              </a:defRPr>
            </a:pPr>
            <a:r>
              <a:t>Professor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2926080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AI synthesizes RateMyProfessors reviews into balanced summaries with strengths, considerations, and a specific tip for success.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011680"/>
            <a:ext cx="3474720" cy="438912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01168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52159" y="237744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59" y="2441448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29184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A38"/>
                </a:solidFill>
                <a:latin typeface="Georgia"/>
              </a:defRPr>
            </a:pPr>
            <a:r>
              <a:t>Alumni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931920"/>
            <a:ext cx="2926080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40+ curated Davidson alumni across McKinsey, Goldman Sachs, Google, Microsoft, and more. Browse by career field and graduation year.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8" y="2011680"/>
            <a:ext cx="3474720" cy="438912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598" y="2011680"/>
            <a:ext cx="347472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198" y="2377440"/>
            <a:ext cx="640080" cy="64008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198" y="2441448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329184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A38"/>
                </a:solidFill>
                <a:latin typeface="Georgia"/>
              </a:defRPr>
            </a:pPr>
            <a:r>
              <a:t>Cold Email Generator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8" y="3931920"/>
            <a:ext cx="2926080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Solves networking anxiety. AI writes personalized, professional outreach emails tailored to each alumnus's role and your interests.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C1D1D"/>
                </a:solidFill>
                <a:latin typeface="Calibri"/>
              </a:defRPr>
            </a:pPr>
            <a: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Georgia"/>
              </a:defRPr>
            </a:pPr>
            <a:r>
              <a:t>Built with a modern, production-grade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697480" cy="3657600"/>
          </a:xfrm>
          <a:prstGeom prst="roundRect">
            <a:avLst/>
          </a:prstGeom>
          <a:solidFill>
            <a:srgbClr val="2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6974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2148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B82F6"/>
                </a:solidFill>
                <a:latin typeface="Georgia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2148840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Next.js 14 + TypeScript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shadcn/ui + Tailwind CSS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Framer Motion animations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Recharts visualizations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011680"/>
            <a:ext cx="2697480" cy="3657600"/>
          </a:xfrm>
          <a:prstGeom prst="roundRect">
            <a:avLst/>
          </a:prstGeom>
          <a:solidFill>
            <a:srgbClr val="2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2011680"/>
            <a:ext cx="26974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331720"/>
            <a:ext cx="2148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0B981"/>
                </a:solidFill>
                <a:latin typeface="Georgia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17520"/>
            <a:ext cx="2148840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Next.js API Routes (serverless)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MongoDB Atlas + Mongoose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NextAuth.js authentication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bcrypt password hashing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011680"/>
            <a:ext cx="2697480" cy="3657600"/>
          </a:xfrm>
          <a:prstGeom prst="roundRect">
            <a:avLst/>
          </a:prstGeom>
          <a:solidFill>
            <a:srgbClr val="2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011680"/>
            <a:ext cx="2697480" cy="54864"/>
          </a:xfrm>
          <a:prstGeom prst="rect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2148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C1D1D"/>
                </a:solidFill>
                <a:latin typeface="Georgia"/>
              </a:defRPr>
            </a:pPr>
            <a:r>
              <a:t>AI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2148840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Google Gemini 3 Flash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Structured JSON outputs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Smart caching (80% hit rate)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6 distinct AI 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011680"/>
            <a:ext cx="2697480" cy="3657600"/>
          </a:xfrm>
          <a:prstGeom prst="roundRect">
            <a:avLst/>
          </a:prstGeom>
          <a:solidFill>
            <a:srgbClr val="2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2011680"/>
            <a:ext cx="26974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2331720"/>
            <a:ext cx="214884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8B5CF6"/>
                </a:solidFill>
                <a:latin typeface="Georgia"/>
              </a:defRPr>
            </a:pPr>
            <a:r>
              <a:t>Data 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017520"/>
            <a:ext cx="2148840" cy="22860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Davidson College API (live)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RateMyProfessors GraphQL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463 courses indexed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40+ alumni curated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B90"/>
                </a:solidFill>
                <a:latin typeface="Calibri"/>
              </a:defRPr>
            </a:pPr>
            <a:r>
              <a:t>Deployed on Vercel  |  MongoDB Atlas  |  Serverless, auto-scaling  |  &lt;2s page loads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C1D1D"/>
                </a:solidFill>
                <a:latin typeface="Calibri"/>
              </a:defRPr>
            </a:pPr>
            <a: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E2A38"/>
                </a:solidFill>
                <a:latin typeface="Georgia"/>
              </a:defRPr>
            </a:pPr>
            <a:r>
              <a:t>Real data, real scale, real impact.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3108960" cy="201168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3B82F6"/>
                </a:solidFill>
                <a:latin typeface="Georgia"/>
              </a:defRPr>
            </a:pPr>
            <a:r>
              <a:t>463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Davidson courses fully indexed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2103120"/>
            <a:ext cx="3108960" cy="201168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37744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8C1D1D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29184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Career paths mapped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103120"/>
            <a:ext cx="3108960" cy="201168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37744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10B981"/>
                </a:solidFill>
                <a:latin typeface="Georgia"/>
              </a:defRPr>
            </a:pPr>
            <a:r>
              <a:t>40+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29184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Alumni contacts curated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480560"/>
            <a:ext cx="3108960" cy="201168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8B5CF6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6928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AI-powered features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4480560"/>
            <a:ext cx="3108960" cy="201168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75488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59E0B"/>
                </a:solidFill>
                <a:latin typeface="Georgia"/>
              </a:defRPr>
            </a:pPr>
            <a:r>
              <a:t>128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66928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Credits tracked to graduation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480560"/>
            <a:ext cx="3108960" cy="201168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4754880"/>
            <a:ext cx="31089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EC4899"/>
                </a:solidFill>
                <a:latin typeface="Georgia"/>
              </a:defRPr>
            </a:pPr>
            <a:r>
              <a:t>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66928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API endpoints built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C1D1D"/>
                </a:solidFill>
                <a:latin typeface="Calibri"/>
              </a:defRPr>
            </a:pPr>
            <a:r>
              <a:t>WHY WE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E2A38"/>
                </a:solidFill>
                <a:latin typeface="Georgia"/>
              </a:defRPr>
            </a:pPr>
            <a:r>
              <a:t>This isn't another generic course planner.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212848"/>
            <a:ext cx="164592" cy="164592"/>
          </a:xfrm>
          <a:prstGeom prst="ellipse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36576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A38"/>
                </a:solidFill>
                <a:latin typeface="Georgia"/>
              </a:defRPr>
            </a:pPr>
            <a:r>
              <a:t>Backward-from-career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2103120"/>
            <a:ext cx="62179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Most tools ask “what courses should I take?” We ask “what career do you want?” and build backward.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127248"/>
            <a:ext cx="164592" cy="164592"/>
          </a:xfrm>
          <a:prstGeom prst="ellipse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17520"/>
            <a:ext cx="36576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A38"/>
                </a:solidFill>
                <a:latin typeface="Georgia"/>
              </a:defRPr>
            </a:pPr>
            <a:r>
              <a:t>Davidson-native depth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017520"/>
            <a:ext cx="62179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463 real courses, real faculty, real alumni, live enrollment from Davidson’s own API.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041648"/>
            <a:ext cx="164592" cy="164592"/>
          </a:xfrm>
          <a:prstGeom prst="ellipse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36576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A38"/>
                </a:solidFill>
                <a:latin typeface="Georgia"/>
              </a:defRPr>
            </a:pPr>
            <a:r>
              <a:t>AI-synthesized professor 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931920"/>
            <a:ext cx="62179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Our AI reads actual RMP reviews and creates balanced, actionable summaries with tips for success.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956048"/>
            <a:ext cx="164592" cy="164592"/>
          </a:xfrm>
          <a:prstGeom prst="ellipse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846320"/>
            <a:ext cx="36576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A38"/>
                </a:solidFill>
                <a:latin typeface="Georgia"/>
              </a:defRPr>
            </a:pPr>
            <a:r>
              <a:t>Career intelligence on every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846320"/>
            <a:ext cx="62179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Every course shows relevance: “CSC 121 is 90% relevant to SWE, 45% to Data Science.”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870448"/>
            <a:ext cx="164592" cy="164592"/>
          </a:xfrm>
          <a:prstGeom prst="ellipse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760720"/>
            <a:ext cx="36576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E2A38"/>
                </a:solidFill>
                <a:latin typeface="Georgia"/>
              </a:defRPr>
            </a:pPr>
            <a:r>
              <a:t>Alumni + cold email outreach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5760720"/>
            <a:ext cx="62179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7280"/>
                </a:solidFill>
                <a:latin typeface="Calibri"/>
              </a:defRPr>
            </a:pPr>
            <a:r>
              <a:t>We don’t just show alumni—we generate personalized outreach emails so students actually network.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C1D1D"/>
                </a:solidFill>
                <a:latin typeface="Calibri"/>
              </a:defRPr>
            </a:pPr>
            <a:r>
              <a:t>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Georgia"/>
              </a:defRPr>
            </a:pPr>
            <a:r>
              <a:t>From sign-up to career roadmap in 60 seconds.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103120" cy="3474720"/>
          </a:xfrm>
          <a:prstGeom prst="roundRect">
            <a:avLst/>
          </a:prstGeom>
          <a:solidFill>
            <a:srgbClr val="2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23317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95728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46120"/>
            <a:ext cx="1828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Sign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40480"/>
            <a:ext cx="18288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Create account, set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major &amp; interests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383280"/>
            <a:ext cx="228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B9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2011680"/>
            <a:ext cx="2103120" cy="3474720"/>
          </a:xfrm>
          <a:prstGeom prst="roundRect">
            <a:avLst/>
          </a:prstGeom>
          <a:solidFill>
            <a:srgbClr val="2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20440" y="2331720"/>
            <a:ext cx="640080" cy="640080"/>
          </a:xfrm>
          <a:prstGeom prst="ellipse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395728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246120"/>
            <a:ext cx="1828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Explore Careers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840480"/>
            <a:ext cx="18288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Browse 24 paths,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pick your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383280"/>
            <a:ext cx="228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B9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2011680"/>
            <a:ext cx="2103120" cy="3474720"/>
          </a:xfrm>
          <a:prstGeom prst="roundRect">
            <a:avLst/>
          </a:prstGeom>
          <a:solidFill>
            <a:srgbClr val="2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52160" y="23317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2395728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246120"/>
            <a:ext cx="1828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Generate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840480"/>
            <a:ext cx="18288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AI builds courses,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people, activities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383280"/>
            <a:ext cx="228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B9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2011680"/>
            <a:ext cx="2103120" cy="3474720"/>
          </a:xfrm>
          <a:prstGeom prst="roundRect">
            <a:avLst/>
          </a:prstGeom>
          <a:solidFill>
            <a:srgbClr val="2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83880" y="2331720"/>
            <a:ext cx="640080" cy="6400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80" y="2395728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246120"/>
            <a:ext cx="1828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Build Schedule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840480"/>
            <a:ext cx="18288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Drag &amp; drop into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4-year roadmap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3383280"/>
            <a:ext cx="228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B7B90"/>
                </a:solidFill>
                <a:latin typeface="Calibri"/>
              </a:defRPr>
            </a:pPr>
            <a:r>
              <a:t>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84080" y="2011680"/>
            <a:ext cx="2103120" cy="3474720"/>
          </a:xfrm>
          <a:prstGeom prst="roundRect">
            <a:avLst/>
          </a:prstGeom>
          <a:solidFill>
            <a:srgbClr val="2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515600" y="23317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0" y="2395728"/>
            <a:ext cx="6400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FFFFF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3246120"/>
            <a:ext cx="1828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Network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3840480"/>
            <a:ext cx="18288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Find alumni, generate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A0AEC0"/>
                </a:solidFill>
                <a:latin typeface="Calibri"/>
              </a:defRPr>
            </a:pPr>
            <a:r>
              <a:t>cold emails with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B90"/>
                </a:solidFill>
                <a:latin typeface="Calibri"/>
              </a:defRPr>
            </a:pPr>
            <a:r>
              <a:t>Live demo available — try it yourself at the booth!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C1D1D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E2A38"/>
                </a:solidFill>
                <a:latin typeface="Georgia"/>
              </a:defRPr>
            </a:pPr>
            <a:r>
              <a:t>From Davidson prototype to institutional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474720" cy="411480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4747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2377440"/>
            <a:ext cx="118872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8"/>
                </a:solidFill>
                <a:latin typeface="Georgia"/>
              </a:defRPr>
            </a:pPr>
            <a:r>
              <a:t>hack@DAVIDSON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40"/>
            <a:ext cx="292608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463 courses, 24 career paths, 6 AI features, live enrollment sync, alumni network, cold email gen.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2011680"/>
            <a:ext cx="3474720" cy="411480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011680"/>
            <a:ext cx="34747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79" y="2377440"/>
            <a:ext cx="118872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2404872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10896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8"/>
                </a:solidFill>
                <a:latin typeface="Georgia"/>
              </a:defRPr>
            </a:pPr>
            <a:r>
              <a:t>Campus-Wide 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3749040"/>
            <a:ext cx="292608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Student beta testing, advisor integrations, mobile optimization, feedback loop with academic deans.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8" y="2011680"/>
            <a:ext cx="3474720" cy="4114800"/>
          </a:xfrm>
          <a:prstGeom prst="round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598" y="2011680"/>
            <a:ext cx="34747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18" y="2377440"/>
            <a:ext cx="1188720" cy="4114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8" y="2404872"/>
            <a:ext cx="11887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FUTURE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3108960"/>
            <a:ext cx="292608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E2A38"/>
                </a:solidFill>
                <a:latin typeface="Georgia"/>
              </a:defRPr>
            </a:pPr>
            <a:r>
              <a:t>Multi-School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8" y="3749040"/>
            <a:ext cx="2926080" cy="20116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280"/>
                </a:solidFill>
                <a:latin typeface="Calibri"/>
              </a:defRPr>
            </a:pPr>
            <a:r>
              <a:t>Adapt the engine for other liberal arts colleges. B2B licensing model for institutional career offices.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457200"/>
            <a:ext cx="2743200" cy="2743200"/>
          </a:xfrm>
          <a:prstGeom prst="ellipse">
            <a:avLst/>
          </a:prstGeom>
          <a:solidFill>
            <a:srgbClr val="2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572000"/>
            <a:ext cx="2286000" cy="2286000"/>
          </a:xfrm>
          <a:prstGeom prst="ellipse">
            <a:avLst/>
          </a:prstGeom>
          <a:solidFill>
            <a:srgbClr val="2A3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94960" y="1188720"/>
            <a:ext cx="1371600" cy="1371600"/>
          </a:xfrm>
          <a:prstGeom prst="roundRect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94960" y="1280160"/>
            <a:ext cx="137160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800" b="0">
                <a:solidFill>
                  <a:srgbClr val="FFFFFF"/>
                </a:solidFill>
                <a:latin typeface="Segoe UI Emoji"/>
              </a:defRPr>
            </a:pPr>
            <a:r>
              <a:t>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418320" cy="128016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Georgia"/>
              </a:defRPr>
            </a:pPr>
            <a:r>
              <a:t>Your degree. Your career. One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023360"/>
            <a:ext cx="7589520" cy="64008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0AEC0"/>
                </a:solidFill>
                <a:latin typeface="Calibri"/>
              </a:defRPr>
            </a:pPr>
            <a:r>
              <a:t>MakeItSo gives every Davidson student an AI career advisor—free, personalized, and always available.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4937760"/>
            <a:ext cx="2834640" cy="594360"/>
          </a:xfrm>
          <a:prstGeom prst="roundRect">
            <a:avLst/>
          </a:prstGeom>
          <a:solidFill>
            <a:srgbClr val="8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4983480"/>
            <a:ext cx="28346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Try the 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852160"/>
            <a:ext cx="850392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7B90"/>
                </a:solidFill>
                <a:latin typeface="Calibri"/>
              </a:defRPr>
            </a:pPr>
            <a:r>
              <a:t>hack@DAVIDSON 2025  |  Questions? Come talk to 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